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6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2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343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1645920"/>
            <a:ext cx="5029200" cy="5029200"/>
          </a:xfrm>
          <a:prstGeom prst="ellipse">
            <a:avLst/>
          </a:prstGeom>
          <a:solidFill>
            <a:srgbClr val="00C2D4">
              <a:alpha val="7000"/>
            </a:srgbClr>
          </a:solidFill>
          <a:ln w="1905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C2D4">
              <a:alpha val="12000"/>
            </a:srgbClr>
          </a:solidFill>
          <a:ln w="12700">
            <a:solidFill>
              <a:srgbClr val="6E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007A8A">
              <a:alpha val="15000"/>
            </a:srgbClr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6576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6BA3B8"/>
                </a:solidFill>
              </a:rPr>
              <a:t>McGillXR  ·  CareXR Hackathon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68580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</a:t>
            </a:r>
            <a:endParaRPr lang="en-US" sz="10000" dirty="0"/>
          </a:p>
        </p:txBody>
      </p:sp>
      <p:sp>
        <p:nvSpPr>
          <p:cNvPr id="9" name="Shape 6"/>
          <p:cNvSpPr/>
          <p:nvPr/>
        </p:nvSpPr>
        <p:spPr>
          <a:xfrm>
            <a:off x="5303520" y="1901952"/>
            <a:ext cx="182880" cy="182880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217627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EE7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Emotional Intelligence for Snap Spectacles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5486400" cy="36576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294436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A3B8"/>
                </a:solidFill>
              </a:rPr>
              <a:t>Helping neurodivergent users understand social cues — passively, in real time, anchored to the world.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3858768"/>
            <a:ext cx="2606040" cy="749808"/>
          </a:xfrm>
          <a:prstGeom prst="rect">
            <a:avLst/>
          </a:prstGeom>
          <a:solidFill>
            <a:srgbClr val="1A1A00"/>
          </a:solidFill>
          <a:ln w="19050">
            <a:solidFill>
              <a:srgbClr val="FFFC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3858768"/>
            <a:ext cx="2606040" cy="73152"/>
          </a:xfrm>
          <a:prstGeom prst="rect">
            <a:avLst/>
          </a:prstGeom>
          <a:solidFill>
            <a:srgbClr val="FFFC00"/>
          </a:solidFill>
          <a:ln w="12700">
            <a:solidFill>
              <a:srgbClr val="FFF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0352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C00"/>
                </a:solidFill>
              </a:rPr>
              <a:t>👻  SNAP SPECTACLES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0352" y="42062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EE88"/>
                </a:solidFill>
              </a:rPr>
              <a:t>AI on AR glasses track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46120" y="3858768"/>
            <a:ext cx="2606040" cy="749808"/>
          </a:xfrm>
          <a:prstGeom prst="rect">
            <a:avLst/>
          </a:prstGeom>
          <a:solidFill>
            <a:srgbClr val="0A1A0F"/>
          </a:solidFill>
          <a:ln w="19050">
            <a:solidFill>
              <a:srgbClr val="00E5A0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46120" y="3858768"/>
            <a:ext cx="260604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19272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</a:rPr>
              <a:t>🧠  CBDT BRAIN HEALTH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19272" y="42062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DDAA"/>
                </a:solidFill>
              </a:rPr>
              <a:t>Cooperative Brain Health track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35040" y="3858768"/>
            <a:ext cx="2606040" cy="749808"/>
          </a:xfrm>
          <a:prstGeom prst="rect">
            <a:avLst/>
          </a:prstGeom>
          <a:solidFill>
            <a:srgbClr val="110A1A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035040" y="3858768"/>
            <a:ext cx="260604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108192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</a:rPr>
              <a:t>🤝  SOCIETY STREAM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08192" y="42062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99FF"/>
                </a:solidFill>
              </a:rPr>
              <a:t>Disability &amp; social justice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</a:rPr>
              <a:t>Snap Spectacles  ·  Hume AI  ·  Convex  ·  TypeScript / Lens Studio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92024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E1A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language is invisible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millions of brains.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84048" y="1993392"/>
            <a:ext cx="2651760" cy="2286000"/>
          </a:xfrm>
          <a:prstGeom prst="rect">
            <a:avLst/>
          </a:prstGeom>
          <a:solidFill>
            <a:srgbClr val="0F1E33"/>
          </a:solidFill>
          <a:ln w="19050">
            <a:solidFill>
              <a:srgbClr val="FF6B35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993392"/>
            <a:ext cx="26517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21579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36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93776" y="3108960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F0F5"/>
                </a:solidFill>
              </a:rPr>
              <a:t>Americans are 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CF0F5"/>
                </a:solidFill>
              </a:rPr>
              <a:t>the autism spectrum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395020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A3B8"/>
                </a:solidFill>
              </a:rPr>
              <a:t>CDC, 2023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55264" y="1993392"/>
            <a:ext cx="2651760" cy="2286000"/>
          </a:xfrm>
          <a:prstGeom prst="rect">
            <a:avLst/>
          </a:prstGeom>
          <a:solidFill>
            <a:srgbClr val="0F1E33"/>
          </a:solidFill>
          <a:ln w="19050">
            <a:solidFill>
              <a:srgbClr val="FBBF24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55264" y="1993392"/>
            <a:ext cx="265176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55264" y="21579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364992" y="3108960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F0F5"/>
                </a:solidFill>
              </a:rPr>
              <a:t>of people experience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CF0F5"/>
                </a:solidFill>
              </a:rPr>
              <a:t>Alexithymia — inability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CF0F5"/>
                </a:solidFill>
              </a:rPr>
              <a:t>identify emotions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395020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A3B8"/>
                </a:solidFill>
              </a:rPr>
              <a:t>Frontiers in Computer Science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1993392"/>
            <a:ext cx="2651760" cy="2286000"/>
          </a:xfrm>
          <a:prstGeom prst="rect">
            <a:avLst/>
          </a:prstGeom>
          <a:solidFill>
            <a:srgbClr val="0F1E33"/>
          </a:solidFill>
          <a:ln w="19050">
            <a:solidFill>
              <a:srgbClr val="F04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993392"/>
            <a:ext cx="2651760" cy="64008"/>
          </a:xfrm>
          <a:prstGeom prst="rect">
            <a:avLst/>
          </a:prstGeom>
          <a:solidFill>
            <a:srgbClr val="F04040"/>
          </a:solidFill>
          <a:ln w="12700">
            <a:solidFill>
              <a:srgbClr val="F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21579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236208" y="3108960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F0F5"/>
                </a:solidFill>
              </a:rPr>
              <a:t>of autistic adults' workplace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CF0F5"/>
                </a:solidFill>
              </a:rPr>
              <a:t>failures are social,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CF0F5"/>
                </a:solidFill>
              </a:rPr>
              <a:t>not skill-based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395020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A3B8"/>
                </a:solidFill>
              </a:rPr>
              <a:t>Research consensus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4480560"/>
            <a:ext cx="8375904" cy="475488"/>
          </a:xfrm>
          <a:prstGeom prst="rect">
            <a:avLst/>
          </a:prstGeom>
          <a:solidFill>
            <a:srgbClr val="172840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572000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87552" y="448056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F0F5"/>
                </a:solidFill>
              </a:rPr>
              <a:t>These are not failures of intelligence or effort. They are failures of access to social information that neurotypical people receive automatically.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4040"/>
          </a:solidFill>
          <a:ln w="12700">
            <a:solidFill>
              <a:srgbClr val="F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2560320" cy="292608"/>
          </a:xfrm>
          <a:prstGeom prst="rect">
            <a:avLst/>
          </a:prstGeom>
          <a:solidFill>
            <a:srgbClr val="F04040"/>
          </a:solidFill>
          <a:ln w="12700">
            <a:solidFill>
              <a:srgbClr val="F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EXISTING APPROACHES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current solution fails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the moment that matters.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84048" y="1645920"/>
            <a:ext cx="1938528" cy="38404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Approach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645920"/>
            <a:ext cx="2596896" cy="38404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645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It Does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645920"/>
            <a:ext cx="3584448" cy="38404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0" y="164592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It Fails in the Moment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048256"/>
            <a:ext cx="1938528" cy="603504"/>
          </a:xfrm>
          <a:prstGeom prst="rect">
            <a:avLst/>
          </a:prstGeom>
          <a:solidFill>
            <a:srgbClr val="0F1E33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084832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F0F5"/>
                </a:solidFill>
              </a:rPr>
              <a:t>Social Skills Therapy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2048256"/>
            <a:ext cx="2596896" cy="603504"/>
          </a:xfrm>
          <a:prstGeom prst="rect">
            <a:avLst/>
          </a:prstGeom>
          <a:solidFill>
            <a:srgbClr val="0F1E33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0" y="20848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Teaches coping in clinical setting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2048256"/>
            <a:ext cx="3584448" cy="603504"/>
          </a:xfrm>
          <a:prstGeom prst="rect">
            <a:avLst/>
          </a:prstGeom>
          <a:solidFill>
            <a:srgbClr val="0F1E33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208483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</a:rPr>
              <a:t>Not available in the boardroom or the subway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212848"/>
            <a:ext cx="256032" cy="25603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84048" y="2688336"/>
            <a:ext cx="1938528" cy="603504"/>
          </a:xfrm>
          <a:prstGeom prst="rect">
            <a:avLst/>
          </a:prstGeom>
          <a:solidFill>
            <a:srgbClr val="1728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5488" y="2724912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F0F5"/>
                </a:solidFill>
              </a:rPr>
              <a:t>Emotion-Reading Apps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468880" y="2688336"/>
            <a:ext cx="2596896" cy="603504"/>
          </a:xfrm>
          <a:prstGeom prst="rect">
            <a:avLst/>
          </a:prstGeom>
          <a:solidFill>
            <a:srgbClr val="1728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560320" y="2724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Camera + ML on smartphone screen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212080" y="2688336"/>
            <a:ext cx="3584448" cy="603504"/>
          </a:xfrm>
          <a:prstGeom prst="rect">
            <a:avLst/>
          </a:prstGeom>
          <a:solidFill>
            <a:srgbClr val="1728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303520" y="272491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</a:rPr>
              <a:t>Requires staring at your phone mid-conversation</a:t>
            </a:r>
            <a:endParaRPr lang="en-US" sz="10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852928"/>
            <a:ext cx="256032" cy="25603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84048" y="3328416"/>
            <a:ext cx="1938528" cy="603504"/>
          </a:xfrm>
          <a:prstGeom prst="rect">
            <a:avLst/>
          </a:prstGeom>
          <a:solidFill>
            <a:srgbClr val="0F1E33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75488" y="3364992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F0F5"/>
                </a:solidFill>
              </a:rPr>
              <a:t>ABA / Coaching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2468880" y="3328416"/>
            <a:ext cx="2596896" cy="603504"/>
          </a:xfrm>
          <a:prstGeom prst="rect">
            <a:avLst/>
          </a:prstGeom>
          <a:solidFill>
            <a:srgbClr val="0F1E33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2560320" y="33649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Repetitive drills on facial expressions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212080" y="3328416"/>
            <a:ext cx="3584448" cy="603504"/>
          </a:xfrm>
          <a:prstGeom prst="rect">
            <a:avLst/>
          </a:prstGeom>
          <a:solidFill>
            <a:srgbClr val="0F1E33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303520" y="336499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</a:rPr>
              <a:t>Doesn't transfer to dynamic real-world settings</a:t>
            </a:r>
            <a:endParaRPr lang="en-US" sz="10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3493008"/>
            <a:ext cx="256032" cy="256032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84048" y="3968496"/>
            <a:ext cx="1938528" cy="603504"/>
          </a:xfrm>
          <a:prstGeom prst="rect">
            <a:avLst/>
          </a:prstGeom>
          <a:solidFill>
            <a:srgbClr val="1728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475488" y="4005072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F0F5"/>
                </a:solidFill>
              </a:rPr>
              <a:t>Self-coping / Masking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2468880" y="3968496"/>
            <a:ext cx="2596896" cy="603504"/>
          </a:xfrm>
          <a:prstGeom prst="rect">
            <a:avLst/>
          </a:prstGeom>
          <a:solidFill>
            <a:srgbClr val="1728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2560320" y="40050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Internal scripting and suppression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212080" y="3968496"/>
            <a:ext cx="3584448" cy="603504"/>
          </a:xfrm>
          <a:prstGeom prst="rect">
            <a:avLst/>
          </a:prstGeom>
          <a:solidFill>
            <a:srgbClr val="1728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5303520" y="40050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</a:rPr>
              <a:t>Extreme cognitive load; leads to burnout</a:t>
            </a:r>
            <a:endParaRPr lang="en-US" sz="10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4133088"/>
            <a:ext cx="256032" cy="256032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384048" y="4663440"/>
            <a:ext cx="8375904" cy="310896"/>
          </a:xfrm>
          <a:prstGeom prst="rect">
            <a:avLst/>
          </a:prstGeom>
          <a:solidFill>
            <a:srgbClr val="180808"/>
          </a:solidFill>
          <a:ln w="19050">
            <a:solidFill>
              <a:srgbClr val="F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566928" y="4663440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CA5A5"/>
                </a:solidFill>
              </a:rPr>
              <a:t>🚫  The gap: No solution works passively, hands-free, in real time, without breaking the social moment itself.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0C2D4">
              <a:alpha val="35000"/>
            </a:srgbClr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457200"/>
            <a:ext cx="2926080" cy="2926080"/>
          </a:xfrm>
          <a:prstGeom prst="ellipse">
            <a:avLst/>
          </a:prstGeom>
          <a:solidFill>
            <a:srgbClr val="FFFFFF">
              <a:alpha val="13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92240" y="1005840"/>
            <a:ext cx="1828800" cy="1828800"/>
          </a:xfrm>
          <a:prstGeom prst="ellipse">
            <a:avLst/>
          </a:prstGeom>
          <a:solidFill>
            <a:srgbClr val="FFFFFF">
              <a:alpha val="18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801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3291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Spatial AR overlay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pinned to the speaker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0" y="4251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E7F0"/>
                </a:solidFill>
              </a:rPr>
              <a:t>No phone. No HUD. Just wear the glasses.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E1A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858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</a:t>
            </a:r>
            <a:endParaRPr lang="en-US" sz="8000" dirty="0"/>
          </a:p>
        </p:txBody>
      </p:sp>
      <p:sp>
        <p:nvSpPr>
          <p:cNvPr id="13" name="Shape 10"/>
          <p:cNvSpPr/>
          <p:nvPr/>
        </p:nvSpPr>
        <p:spPr>
          <a:xfrm>
            <a:off x="457200" y="2103120"/>
            <a:ext cx="4480560" cy="36576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267712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F0F5"/>
                </a:solidFill>
              </a:rPr>
              <a:t>A passive AR assistant that detects the emotional subtext of live conversations — and floats a subtle cue above the speaker's face. No interruption. No stigma.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456432"/>
            <a:ext cx="1389888" cy="475488"/>
          </a:xfrm>
          <a:prstGeom prst="roundRect">
            <a:avLst>
              <a:gd name="adj" fmla="val 15385"/>
            </a:avLst>
          </a:prstGeom>
          <a:solidFill>
            <a:srgbClr val="0F1E33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345643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E5A0"/>
                </a:solidFill>
              </a:rPr>
              <a:t>😊 Genuine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965960" y="3456432"/>
            <a:ext cx="1389888" cy="475488"/>
          </a:xfrm>
          <a:prstGeom prst="roundRect">
            <a:avLst>
              <a:gd name="adj" fmla="val 15385"/>
            </a:avLst>
          </a:prstGeom>
          <a:solidFill>
            <a:srgbClr val="0F1E33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965960" y="345643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BF24"/>
                </a:solidFill>
              </a:rPr>
              <a:t>😰 Anxious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474720" y="3456432"/>
            <a:ext cx="1389888" cy="475488"/>
          </a:xfrm>
          <a:prstGeom prst="roundRect">
            <a:avLst>
              <a:gd name="adj" fmla="val 15385"/>
            </a:avLst>
          </a:prstGeom>
          <a:solidFill>
            <a:srgbClr val="0F1E33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474720" y="345643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35"/>
                </a:solidFill>
              </a:rPr>
              <a:t>🙃 Sarcastic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41330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A3B8"/>
                </a:solidFill>
              </a:rPr>
              <a:t>Emotional intelligence as a wearable accessibility tool.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0E1A"/>
          </a:solidFill>
          <a:ln w="12700">
            <a:solidFill>
              <a:srgbClr val="08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BUILD FOR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822960"/>
            <a:ext cx="27432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822960"/>
            <a:ext cx="2743200" cy="640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25296" y="987552"/>
            <a:ext cx="877824" cy="877824"/>
          </a:xfrm>
          <a:prstGeom prst="ellipse">
            <a:avLst/>
          </a:prstGeom>
          <a:solidFill>
            <a:srgbClr val="00C2D4">
              <a:alpha val="85000"/>
            </a:srgbClr>
          </a:solidFill>
          <a:ln w="1905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25296" y="1024128"/>
            <a:ext cx="87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💼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75488" y="1993392"/>
            <a:ext cx="2377440" cy="2743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ASD — Level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23957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F2D"/>
                </a:solidFill>
              </a:rPr>
              <a:t>The Corporate Meeting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9768" y="2788920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2"/>
                </a:solidFill>
              </a:rPr>
              <a:t>An autistic professional is in a performance review. Colleagues mask frustration behind polite language. The professional leaves unaware their contract renewal is at risk.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3886200"/>
            <a:ext cx="2468880" cy="438912"/>
          </a:xfrm>
          <a:prstGeom prst="rect">
            <a:avLst/>
          </a:prstGeom>
          <a:solidFill>
            <a:srgbClr val="EAF8F5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8862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A5444"/>
                </a:solidFill>
              </a:rPr>
              <a:t>InSight quietly flags: ⚠️ Rising friction detected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44348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5A72"/>
                </a:solidFill>
              </a:rPr>
              <a:t>Reduces exhausting cognitive load of decoding subtext in real time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36976" y="822960"/>
            <a:ext cx="27432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36976" y="822960"/>
            <a:ext cx="27432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69664" y="987552"/>
            <a:ext cx="877824" cy="877824"/>
          </a:xfrm>
          <a:prstGeom prst="ellipse">
            <a:avLst/>
          </a:prstGeom>
          <a:solidFill>
            <a:srgbClr val="A855F7">
              <a:alpha val="85000"/>
            </a:srgbClr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69664" y="1024128"/>
            <a:ext cx="87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🌊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3419856" y="1993392"/>
            <a:ext cx="2377440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19856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Alexithymia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23957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F2D"/>
                </a:solidFill>
              </a:rPr>
              <a:t>The Sensory Tipping Point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74136" y="2788920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2"/>
                </a:solidFill>
              </a:rPr>
              <a:t>In a chaotic environment, the user cannot recognize their own escalating anxiety until it becomes a meltdown — missing the window to self-regulate.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74136" y="3886200"/>
            <a:ext cx="2468880" cy="438912"/>
          </a:xfrm>
          <a:prstGeom prst="rect">
            <a:avLst/>
          </a:prstGeom>
          <a:solidFill>
            <a:srgbClr val="EAF8F5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19856" y="38862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A5444"/>
                </a:solidFill>
              </a:rPr>
              <a:t>InSight quietly flags: 😰 Stress pattern rising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74136" y="44348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5A72"/>
                </a:solidFill>
              </a:rPr>
              <a:t>Biofeedback via prosody gives an early-warning system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81344" y="822960"/>
            <a:ext cx="27432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81344" y="822960"/>
            <a:ext cx="27432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14032" y="987552"/>
            <a:ext cx="877824" cy="877824"/>
          </a:xfrm>
          <a:prstGeom prst="ellipse">
            <a:avLst/>
          </a:prstGeom>
          <a:solidFill>
            <a:srgbClr val="00E5A0">
              <a:alpha val="85000"/>
            </a:srgbClr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14032" y="1024128"/>
            <a:ext cx="87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6364224" y="1993392"/>
            <a:ext cx="2377440" cy="2743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64224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Visually Impaired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3957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F2D"/>
                </a:solidFill>
              </a:rPr>
              <a:t>The Networking Event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318504" y="2788920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2"/>
                </a:solidFill>
              </a:rPr>
              <a:t>Locked in conversation at a networking mixer, the user cannot see the other person checking their watch or glancing at the door — signals they want to leave.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18504" y="3886200"/>
            <a:ext cx="2468880" cy="438912"/>
          </a:xfrm>
          <a:prstGeom prst="rect">
            <a:avLst/>
          </a:prstGeom>
          <a:solidFill>
            <a:srgbClr val="EAF8F5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64224" y="38862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A5444"/>
                </a:solidFill>
              </a:rPr>
              <a:t>InSight quietly flags: 🏃 Disengaged — conversation winding down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18504" y="44348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5A72"/>
                </a:solidFill>
              </a:rPr>
              <a:t>Audio-only social cue translation that doesn't rely on sight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AR EXPERIENCE  —  What you see through the glasses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685800"/>
            <a:ext cx="5394960" cy="4224528"/>
          </a:xfrm>
          <a:prstGeom prst="roundRect">
            <a:avLst>
              <a:gd name="adj" fmla="val 4762"/>
            </a:avLst>
          </a:prstGeom>
          <a:solidFill>
            <a:srgbClr val="0B1520"/>
          </a:solidFill>
          <a:ln w="25400">
            <a:solidFill>
              <a:srgbClr val="00C2D4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F0"/>
                </a:solidFill>
              </a:rPr>
              <a:t>◉  SPECTACLES POV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5212080" cy="3383280"/>
          </a:xfrm>
          <a:prstGeom prst="rect">
            <a:avLst/>
          </a:prstGeom>
          <a:solidFill>
            <a:srgbClr val="0F1E2C"/>
          </a:solidFill>
          <a:ln w="12700">
            <a:solidFill>
              <a:srgbClr val="0F1E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212080" cy="1261872"/>
          </a:xfrm>
          <a:prstGeom prst="rect">
            <a:avLst/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188720"/>
            <a:ext cx="1280160" cy="1463040"/>
          </a:xfrm>
          <a:prstGeom prst="rect">
            <a:avLst/>
          </a:prstGeom>
          <a:solidFill>
            <a:srgbClr val="121E2A"/>
          </a:solidFill>
          <a:ln w="12700">
            <a:solidFill>
              <a:srgbClr val="1A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1188720"/>
            <a:ext cx="1280160" cy="731520"/>
          </a:xfrm>
          <a:prstGeom prst="rect">
            <a:avLst/>
          </a:prstGeom>
          <a:solidFill>
            <a:srgbClr val="0D2035">
              <a:alpha val="70000"/>
            </a:srgbClr>
          </a:solidFill>
          <a:ln w="12700">
            <a:solidFill>
              <a:srgbClr val="1A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1097280" cy="1828800"/>
          </a:xfrm>
          <a:prstGeom prst="rect">
            <a:avLst/>
          </a:prstGeom>
          <a:solidFill>
            <a:srgbClr val="0E1C2A"/>
          </a:solidFill>
          <a:ln w="12700">
            <a:solidFill>
              <a:srgbClr val="1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37360" y="2468880"/>
            <a:ext cx="1463040" cy="1005840"/>
          </a:xfrm>
          <a:prstGeom prst="roundRect">
            <a:avLst>
              <a:gd name="adj" fmla="val 27273"/>
            </a:avLst>
          </a:prstGeom>
          <a:solidFill>
            <a:srgbClr val="1A3048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31720" y="2286000"/>
            <a:ext cx="274320" cy="256032"/>
          </a:xfrm>
          <a:prstGeom prst="rect">
            <a:avLst/>
          </a:prstGeom>
          <a:solidFill>
            <a:srgbClr val="1A3048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57400" y="1645920"/>
            <a:ext cx="804672" cy="896112"/>
          </a:xfrm>
          <a:prstGeom prst="ellipse">
            <a:avLst/>
          </a:prstGeom>
          <a:solidFill>
            <a:srgbClr val="1E3A54"/>
          </a:solidFill>
          <a:ln w="12700">
            <a:solidFill>
              <a:srgbClr val="26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03704" y="1847088"/>
            <a:ext cx="128016" cy="91440"/>
          </a:xfrm>
          <a:prstGeom prst="ellipse">
            <a:avLst/>
          </a:prstGeom>
          <a:solidFill>
            <a:srgbClr val="2A5070"/>
          </a:solidFill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9464" y="1847088"/>
            <a:ext cx="128016" cy="91440"/>
          </a:xfrm>
          <a:prstGeom prst="ellipse">
            <a:avLst/>
          </a:prstGeom>
          <a:solidFill>
            <a:srgbClr val="2A5070"/>
          </a:solidFill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58568" y="2157984"/>
            <a:ext cx="402336" cy="109728"/>
          </a:xfrm>
          <a:prstGeom prst="roundRect">
            <a:avLst>
              <a:gd name="adj" fmla="val 33333"/>
            </a:avLst>
          </a:prstGeom>
          <a:solidFill>
            <a:srgbClr val="2A5070"/>
          </a:solidFill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68880" y="1572768"/>
            <a:ext cx="0" cy="457200"/>
          </a:xfrm>
          <a:prstGeom prst="line">
            <a:avLst/>
          </a:prstGeom>
          <a:noFill/>
          <a:ln w="19050">
            <a:solidFill>
              <a:srgbClr val="00C2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783080" y="868680"/>
            <a:ext cx="1828800" cy="685800"/>
          </a:xfrm>
          <a:prstGeom prst="roundRect">
            <a:avLst>
              <a:gd name="adj" fmla="val 16000"/>
            </a:avLst>
          </a:prstGeom>
          <a:solidFill>
            <a:srgbClr val="060D1A"/>
          </a:solidFill>
          <a:ln w="25400">
            <a:solidFill>
              <a:srgbClr val="00C2D4"/>
            </a:solidFill>
            <a:prstDash val="solid"/>
          </a:ln>
          <a:effectLst>
            <a:outerShdw blurRad="228600" dist="50800" dir="8100000" algn="bl" rotWithShape="0">
              <a:srgbClr val="00C2D4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783080" y="868680"/>
            <a:ext cx="18288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28800" y="905256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240280" y="923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Anxious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40280" y="11521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F0"/>
                </a:solidFill>
              </a:rPr>
              <a:t>87% confidence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40280" y="1408176"/>
            <a:ext cx="1298448" cy="9144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40280" y="1408176"/>
            <a:ext cx="1133856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83080" y="265176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A0808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2880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</a:rPr>
              <a:t>⚠ Voice: Joy  ·  Face: Distress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61888" y="749808"/>
            <a:ext cx="2907792" cy="914400"/>
          </a:xfrm>
          <a:prstGeom prst="rect">
            <a:avLst/>
          </a:prstGeom>
          <a:solidFill>
            <a:srgbClr val="0F1E33"/>
          </a:solidFill>
          <a:ln w="12700">
            <a:solidFill>
              <a:srgbClr val="007A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61888" y="749808"/>
            <a:ext cx="2907792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53328" y="84124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👓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601968" y="85953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F0"/>
                </a:solidFill>
              </a:rPr>
              <a:t>Always-on, glanceable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01968" y="1170432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Stays peripheral — never demands attention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61888" y="1828800"/>
            <a:ext cx="2907792" cy="914400"/>
          </a:xfrm>
          <a:prstGeom prst="rect">
            <a:avLst/>
          </a:prstGeom>
          <a:solidFill>
            <a:srgbClr val="0F1E33"/>
          </a:solidFill>
          <a:ln w="12700">
            <a:solidFill>
              <a:srgbClr val="007A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61888" y="1828800"/>
            <a:ext cx="2907792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53328" y="19202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601968" y="193852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F0"/>
                </a:solidFill>
              </a:rPr>
              <a:t>Spatially anchored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01968" y="2249424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Moves with the speaker's face, not the screen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61888" y="2907792"/>
            <a:ext cx="2907792" cy="914400"/>
          </a:xfrm>
          <a:prstGeom prst="rect">
            <a:avLst/>
          </a:prstGeom>
          <a:solidFill>
            <a:srgbClr val="0F1E33"/>
          </a:solidFill>
          <a:ln w="12700">
            <a:solidFill>
              <a:srgbClr val="007A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61888" y="2907792"/>
            <a:ext cx="2907792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53328" y="299923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601968" y="301752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F0"/>
                </a:solidFill>
              </a:rPr>
              <a:t>Sub-3s latency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01968" y="3328416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3s failsafe ensures zero blank moments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61888" y="3986784"/>
            <a:ext cx="2907792" cy="914400"/>
          </a:xfrm>
          <a:prstGeom prst="rect">
            <a:avLst/>
          </a:prstGeom>
          <a:solidFill>
            <a:srgbClr val="0F1E33"/>
          </a:solidFill>
          <a:ln w="12700">
            <a:solidFill>
              <a:srgbClr val="007A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961888" y="3986784"/>
            <a:ext cx="2907792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053328" y="407822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601968" y="409651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F0"/>
                </a:solidFill>
              </a:rPr>
              <a:t>Incongruity detection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01968" y="4407408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Flags when voice and face tell different stories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0E1A"/>
          </a:solidFill>
          <a:ln w="12700">
            <a:solidFill>
              <a:srgbClr val="08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914400"/>
            <a:ext cx="1993392" cy="3520440"/>
          </a:xfrm>
          <a:prstGeom prst="rect">
            <a:avLst/>
          </a:prstGeom>
          <a:solidFill>
            <a:srgbClr val="080E1A"/>
          </a:solidFill>
          <a:ln w="12700">
            <a:solidFill>
              <a:srgbClr val="007A8A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914400"/>
            <a:ext cx="1993392" cy="640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6968" y="1097280"/>
            <a:ext cx="804672" cy="804672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E1A"/>
                </a:solidFill>
              </a:rPr>
              <a:t>01</a:t>
            </a:r>
            <a:endParaRPr lang="en-US" sz="1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029968"/>
            <a:ext cx="621792" cy="6217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4048" y="277977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E7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2336" y="3255264"/>
            <a:ext cx="17739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F0F5"/>
                </a:solidFill>
              </a:rPr>
              <a:t>ASR Controller transcribes live speech on-device from the Spectacles built-in mic — real-time, no cloud delay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491740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96312" y="914400"/>
            <a:ext cx="1993392" cy="3520440"/>
          </a:xfrm>
          <a:prstGeom prst="rect">
            <a:avLst/>
          </a:prstGeom>
          <a:solidFill>
            <a:srgbClr val="080E1A"/>
          </a:solidFill>
          <a:ln w="12700">
            <a:solidFill>
              <a:srgbClr val="007A8A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496312" y="914400"/>
            <a:ext cx="1993392" cy="640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090672" y="1097280"/>
            <a:ext cx="804672" cy="804672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090672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E1A"/>
                </a:solidFill>
              </a:rPr>
              <a:t>02</a:t>
            </a:r>
            <a:endParaRPr lang="en-US" sz="17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2029968"/>
            <a:ext cx="621792" cy="6217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587752" y="277977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E7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606040" y="3255264"/>
            <a:ext cx="17739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F0F5"/>
                </a:solidFill>
              </a:rPr>
              <a:t>World-facing camera captures a JPEG of the speaker's face — triggered per conversational turn</a:t>
            </a:r>
            <a:endParaRPr lang="en-US" sz="10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491740"/>
            <a:ext cx="237744" cy="23774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00016" y="914400"/>
            <a:ext cx="1993392" cy="3520440"/>
          </a:xfrm>
          <a:prstGeom prst="rect">
            <a:avLst/>
          </a:prstGeom>
          <a:solidFill>
            <a:srgbClr val="080E1A"/>
          </a:solidFill>
          <a:ln w="12700">
            <a:solidFill>
              <a:srgbClr val="007A8A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700016" y="914400"/>
            <a:ext cx="1993392" cy="640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294376" y="1097280"/>
            <a:ext cx="804672" cy="804672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5294376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E1A"/>
                </a:solidFill>
              </a:rPr>
              <a:t>03</a:t>
            </a:r>
            <a:endParaRPr lang="en-US" sz="17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816" y="2029968"/>
            <a:ext cx="621792" cy="6217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91456" y="277977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E7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4809744" y="3255264"/>
            <a:ext cx="17739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F0F5"/>
                </a:solidFill>
              </a:rPr>
              <a:t>Convex WebSocket backend receives text + image, routes to Hume AI's multimodal Expression API in parallel</a:t>
            </a:r>
            <a:endParaRPr lang="en-US" sz="10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491740"/>
            <a:ext cx="237744" cy="23774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903720" y="914400"/>
            <a:ext cx="1993392" cy="3520440"/>
          </a:xfrm>
          <a:prstGeom prst="rect">
            <a:avLst/>
          </a:prstGeom>
          <a:solidFill>
            <a:srgbClr val="080E1A"/>
          </a:solidFill>
          <a:ln w="12700">
            <a:solidFill>
              <a:srgbClr val="007A8A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6903720" y="914400"/>
            <a:ext cx="1993392" cy="640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7498080" y="1097280"/>
            <a:ext cx="804672" cy="804672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7498080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0E1A"/>
                </a:solidFill>
              </a:rPr>
              <a:t>04</a:t>
            </a:r>
            <a:endParaRPr lang="en-US" sz="17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2029968"/>
            <a:ext cx="621792" cy="62179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95160" y="277977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E7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</a:t>
            </a:r>
            <a:endParaRPr lang="en-US" sz="1800" dirty="0"/>
          </a:p>
        </p:txBody>
      </p:sp>
      <p:sp>
        <p:nvSpPr>
          <p:cNvPr id="35" name="Text 26"/>
          <p:cNvSpPr/>
          <p:nvPr/>
        </p:nvSpPr>
        <p:spPr>
          <a:xfrm>
            <a:off x="7013448" y="3255264"/>
            <a:ext cx="17739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F0F5"/>
                </a:solidFill>
              </a:rPr>
              <a:t>Emoji + label anchored above the speaker's head via Face Tracking Index 1 — moves with them, not the screen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292608" y="4626864"/>
            <a:ext cx="8558784" cy="347472"/>
          </a:xfrm>
          <a:prstGeom prst="rect">
            <a:avLst/>
          </a:prstGeom>
          <a:solidFill>
            <a:srgbClr val="080E1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8"/>
          <p:cNvSpPr/>
          <p:nvPr/>
        </p:nvSpPr>
        <p:spPr>
          <a:xfrm>
            <a:off x="475488" y="4626864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6EE7F0"/>
                </a:solidFill>
              </a:rPr>
              <a:t>⚡  3-Second Failsafe: If Hume response exceeds 3s, local Face Mesh blendshapes instantly display a Quick Hint — zero dead time for the user.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2377440" cy="2926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E1A"/>
                </a:solidFill>
              </a:rPr>
              <a:t>TECHNICAL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Speed. Built for the Edge.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2651760" cy="3401568"/>
          </a:xfrm>
          <a:prstGeom prst="rect">
            <a:avLst/>
          </a:prstGeom>
          <a:solidFill>
            <a:srgbClr val="0F1E33"/>
          </a:solidFill>
          <a:ln w="12700">
            <a:solidFill>
              <a:srgbClr val="1A3050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651760" cy="640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" y="1527048"/>
            <a:ext cx="566928" cy="566928"/>
          </a:xfrm>
          <a:prstGeom prst="ellipse">
            <a:avLst/>
          </a:prstGeom>
          <a:solidFill>
            <a:srgbClr val="00C2D4">
              <a:alpha val="82000"/>
            </a:srgbClr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591056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2144" y="15270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4"/>
                </a:solidFill>
              </a:rPr>
              <a:t>Hardware &amp; Capture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" y="2194560"/>
            <a:ext cx="2395728" cy="27432"/>
          </a:xfrm>
          <a:prstGeom prst="rect">
            <a:avLst/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" y="230428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D4"/>
                </a:solidFill>
              </a:rPr>
              <a:t>Platform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" y="251460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Snap Spectacles (2024)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" y="292608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D4"/>
                </a:solidFill>
              </a:rPr>
              <a:t>Speech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5488" y="31363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ASR Query Controller — on-device, real-time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5488" y="354787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D4"/>
                </a:solidFill>
              </a:rPr>
              <a:t>Camera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5488" y="375818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World-Facing Camera — JPEG per turn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5488" y="416966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D4"/>
                </a:solidFill>
              </a:rPr>
              <a:t>Face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5488" y="437997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Face Tracking Index 1 — spatial anchor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55264" y="1389888"/>
            <a:ext cx="2651760" cy="3401568"/>
          </a:xfrm>
          <a:prstGeom prst="rect">
            <a:avLst/>
          </a:prstGeom>
          <a:solidFill>
            <a:srgbClr val="0F1E33"/>
          </a:solidFill>
          <a:ln w="12700">
            <a:solidFill>
              <a:srgbClr val="1A3050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255264" y="1389888"/>
            <a:ext cx="265176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383280" y="1527048"/>
            <a:ext cx="566928" cy="566928"/>
          </a:xfrm>
          <a:prstGeom prst="ellipse">
            <a:avLst/>
          </a:prstGeom>
          <a:solidFill>
            <a:srgbClr val="A855F7">
              <a:alpha val="82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591056"/>
            <a:ext cx="438912" cy="43891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59936" y="15270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</a:rPr>
              <a:t>Backend — Convex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3383280" y="2194560"/>
            <a:ext cx="2395728" cy="27432"/>
          </a:xfrm>
          <a:prstGeom prst="rect">
            <a:avLst/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383280" y="230428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</a:rPr>
              <a:t>Runtime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383280" y="251460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Convex WebSocket reactive engine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383280" y="292608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</a:rPr>
              <a:t>Why Convex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383280" y="31363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Replaced Supabase HTTP polling — far lower latency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383280" y="354787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</a:rPr>
              <a:t>Security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383280" y="375818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Server-side API keys; never on-device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3383280" y="416966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</a:rPr>
              <a:t>State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383280" y="437997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Real-time subscriptions push cues to Lens instantly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163056" y="1389888"/>
            <a:ext cx="2651760" cy="3401568"/>
          </a:xfrm>
          <a:prstGeom prst="rect">
            <a:avLst/>
          </a:prstGeom>
          <a:solidFill>
            <a:srgbClr val="0F1E33"/>
          </a:solidFill>
          <a:ln w="12700">
            <a:solidFill>
              <a:srgbClr val="1A3050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6163056" y="1389888"/>
            <a:ext cx="265176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291072" y="1527048"/>
            <a:ext cx="566928" cy="566928"/>
          </a:xfrm>
          <a:prstGeom prst="ellipse">
            <a:avLst/>
          </a:prstGeom>
          <a:solidFill>
            <a:srgbClr val="00E5A0">
              <a:alpha val="82000"/>
            </a:srgbClr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91056"/>
            <a:ext cx="438912" cy="43891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967728" y="15270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</a:rPr>
              <a:t>AI — Hume + GPT-4o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6291072" y="2194560"/>
            <a:ext cx="2395728" cy="27432"/>
          </a:xfrm>
          <a:prstGeom prst="rect">
            <a:avLst/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6291072" y="230428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A0"/>
                </a:solidFill>
              </a:rPr>
              <a:t>Provider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6291072" y="251460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Hume AI Multimodal Expression API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291072" y="292608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A0"/>
                </a:solidFill>
              </a:rPr>
              <a:t>Inputs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6291072" y="31363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Text (language model) + Face image (vision)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6291072" y="354787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A0"/>
                </a:solidFill>
              </a:rPr>
              <a:t>Output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6291072" y="375818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53 emotional nuances with confidence scores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6291072" y="416966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A0"/>
                </a:solidFill>
              </a:rPr>
              <a:t>Synthesis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6291072" y="437997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F0F5"/>
                </a:solidFill>
              </a:rPr>
              <a:t>Deterministic map + optional GPT-4o edge cases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47472" y="4864608"/>
            <a:ext cx="8449056" cy="164592"/>
          </a:xfrm>
          <a:prstGeom prst="roundRect">
            <a:avLst>
              <a:gd name="adj" fmla="val 27778"/>
            </a:avLst>
          </a:prstGeom>
          <a:solidFill>
            <a:srgbClr val="001A0F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4"/>
          <p:cNvSpPr/>
          <p:nvPr/>
        </p:nvSpPr>
        <p:spPr>
          <a:xfrm>
            <a:off x="475488" y="489204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/>
          <p:nvPr/>
        </p:nvSpPr>
        <p:spPr>
          <a:xfrm>
            <a:off x="658368" y="4864608"/>
            <a:ext cx="8119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A0"/>
                </a:solidFill>
              </a:rPr>
              <a:t>SYSTEM IS LIVE  ·  End-to-end pipeline running on Snap Spectacles hardware with real Hume AI results.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0E1A"/>
          </a:solidFill>
          <a:ln w="12700">
            <a:solidFill>
              <a:srgbClr val="08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INNOVATIONS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841248"/>
            <a:ext cx="41148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F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841248"/>
            <a:ext cx="41148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005840"/>
            <a:ext cx="658368" cy="658368"/>
          </a:xfrm>
          <a:prstGeom prst="ellipse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088136"/>
            <a:ext cx="493776" cy="4937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35808" y="1069848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035808" y="1069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B35"/>
                </a:solidFill>
              </a:rPr>
              <a:t>Novel Feature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243584" y="10241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2D"/>
                </a:solidFill>
              </a:rPr>
              <a:t>Incongruity Detection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1773936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2"/>
                </a:solidFill>
              </a:rPr>
              <a:t>First system to flag mismatches between verbal tone and facial expression — e.g., "Voice shows Joy, Face shows Distress." The social signal most people miss. The one that matters most.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0016" y="841248"/>
            <a:ext cx="41148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F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00016" y="841248"/>
            <a:ext cx="411480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46320" y="1005840"/>
            <a:ext cx="658368" cy="658368"/>
          </a:xfrm>
          <a:prstGeom prst="ellipse">
            <a:avLst/>
          </a:prstGeom>
          <a:solidFill>
            <a:srgbClr val="FBBF24">
              <a:alpha val="85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088136"/>
            <a:ext cx="493776" cy="49377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443216" y="1069848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BBF24">
              <a:alpha val="15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443216" y="1069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BF24"/>
                </a:solidFill>
              </a:rPr>
              <a:t>Zero Dead Time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650992" y="10241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2D"/>
                </a:solidFill>
              </a:rPr>
              <a:t>3-Second Failsafe Loop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864608" y="1773936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2"/>
                </a:solidFill>
              </a:rPr>
              <a:t>Parallel processing: local Face Mesh blendshapes emit a Quick Hint instantly while cloud results load. The display is never blank — always showing something useful.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907792"/>
            <a:ext cx="41148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F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92608" y="2907792"/>
            <a:ext cx="4114800" cy="6400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38912" y="3072384"/>
            <a:ext cx="658368" cy="658368"/>
          </a:xfrm>
          <a:prstGeom prst="ellipse">
            <a:avLst/>
          </a:prstGeom>
          <a:solidFill>
            <a:srgbClr val="00C2D4">
              <a:alpha val="85000"/>
            </a:srgbClr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154680"/>
            <a:ext cx="493776" cy="49377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035808" y="313639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0C2D4">
              <a:alpha val="15000"/>
            </a:srgbClr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3035808" y="3136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2D4"/>
                </a:solidFill>
              </a:rPr>
              <a:t>Spatial UX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243584" y="30906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2D"/>
                </a:solidFill>
              </a:rPr>
              <a:t>True Spatial AR Anchor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457200" y="3840480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2"/>
                </a:solidFill>
              </a:rPr>
              <a:t>Evolved from a 2D HUD overlay to a spatial marker pinned above the speaker using Face Tracking Index 1. The cue follows the person, not the screen. Natural. Unobtrusive.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700016" y="2907792"/>
            <a:ext cx="41148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F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700016" y="2907792"/>
            <a:ext cx="41148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846320" y="3072384"/>
            <a:ext cx="658368" cy="658368"/>
          </a:xfrm>
          <a:prstGeom prst="ellipse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3154680"/>
            <a:ext cx="493776" cy="493776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443216" y="313639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7443216" y="3136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5F7"/>
                </a:solidFill>
              </a:rPr>
              <a:t>Hume AI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5650992" y="30906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2D"/>
                </a:solidFill>
              </a:rPr>
              <a:t>53 Emotional Nuances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4864608" y="3840480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2"/>
                </a:solidFill>
              </a:rPr>
              <a:t>Beyond happy/sad/angry. Hume's multimodal model detects Contemplation, Awe, Awkwardness, Adoration — the subtle states that define real conversations.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2743200" cy="3108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0E1A"/>
                </a:solidFill>
              </a:rPr>
              <a:t>WHY INSIGHT WINS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Aligned to every track &amp; every rubric criterion.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BBF24"/>
                </a:solidFill>
              </a:rPr>
              <a:t>PRIZE TRACKS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4206240" cy="960120"/>
          </a:xfrm>
          <a:prstGeom prst="rect">
            <a:avLst/>
          </a:prstGeom>
          <a:solidFill>
            <a:srgbClr val="1A1A00"/>
          </a:solidFill>
          <a:ln w="19050">
            <a:solidFill>
              <a:srgbClr val="FFFC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4206240" cy="54864"/>
          </a:xfrm>
          <a:prstGeom prst="rect">
            <a:avLst/>
          </a:prstGeom>
          <a:solidFill>
            <a:srgbClr val="FFFC00"/>
          </a:solidFill>
          <a:ln w="12700">
            <a:solidFill>
              <a:srgbClr val="FFF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7922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C00"/>
                </a:solidFill>
              </a:rPr>
              <a:t>👻 SNAP SPECTACLES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06654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AI on AR glasses — experimental camera access ✓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26771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Everyday utility: social accessibility 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46888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Real-world immersive experience 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206240" cy="960120"/>
          </a:xfrm>
          <a:prstGeom prst="rect">
            <a:avLst/>
          </a:prstGeom>
          <a:solidFill>
            <a:srgbClr val="0A1A0F"/>
          </a:solidFill>
          <a:ln w="19050">
            <a:solidFill>
              <a:srgbClr val="00E5A0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420624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8712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A0"/>
                </a:solidFill>
              </a:rPr>
              <a:t>🧠 CBDT BRAIN HEALTH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14553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Emotional wellbeing for neurodivergent users ✓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34670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Reduces caregiver / self-monitoring burden 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354787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Personalized brain-condition support tool ✓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4206240" cy="960120"/>
          </a:xfrm>
          <a:prstGeom prst="rect">
            <a:avLst/>
          </a:prstGeom>
          <a:solidFill>
            <a:srgbClr val="110A1A"/>
          </a:solidFill>
          <a:ln w="190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42062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</a:rPr>
              <a:t>🤝 SOCIETY STREAM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422452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Addresses disability access barriers 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442569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Social justice for neurodivergent community ✓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" y="462686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Helps individuals thrive in daily settings ✓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1335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BBF24"/>
                </a:solidFill>
              </a:rPr>
              <a:t>JUDGING CRITERIA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1719072"/>
            <a:ext cx="3858768" cy="594360"/>
          </a:xfrm>
          <a:prstGeom prst="rect">
            <a:avLst/>
          </a:prstGeom>
          <a:solidFill>
            <a:srgbClr val="0F1E33"/>
          </a:solidFill>
          <a:ln w="12700">
            <a:solidFill>
              <a:srgbClr val="00C2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37760" y="1719072"/>
            <a:ext cx="54864" cy="59436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65776" y="1755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Functionality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65776" y="19751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Live end-to-end pipeline — Spectacles mic → Hume AI → AR overlay. Demo-ready on hardware.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2386584"/>
            <a:ext cx="3858768" cy="594360"/>
          </a:xfrm>
          <a:prstGeom prst="rect">
            <a:avLst/>
          </a:prstGeom>
          <a:solidFill>
            <a:srgbClr val="0F1E33"/>
          </a:solidFill>
          <a:ln w="1270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37760" y="2386584"/>
            <a:ext cx="54864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65776" y="2423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</a:rPr>
              <a:t>Creativity &amp; Innovation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65776" y="2642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First AR tool with Incongruity Detection. 53 nuances vs. 6 basic emotions. Spatial anchor, not HUD.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0" y="3054096"/>
            <a:ext cx="3858768" cy="594360"/>
          </a:xfrm>
          <a:prstGeom prst="rect">
            <a:avLst/>
          </a:prstGeom>
          <a:solidFill>
            <a:srgbClr val="0F1E33"/>
          </a:solidFill>
          <a:ln w="12700">
            <a:solidFill>
              <a:srgbClr val="00E5A0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937760" y="3054096"/>
            <a:ext cx="54864" cy="5943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65776" y="3090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</a:rPr>
              <a:t>Art &amp; Audio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65776" y="33101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Glanceable emoji overlay, confidence bar, spatial anchoring — designed to be invisible until needed.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37760" y="3721608"/>
            <a:ext cx="3858768" cy="594360"/>
          </a:xfrm>
          <a:prstGeom prst="rect">
            <a:avLst/>
          </a:prstGeom>
          <a:solidFill>
            <a:srgbClr val="0F1E33"/>
          </a:solidFill>
          <a:ln w="127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37760" y="3721608"/>
            <a:ext cx="54864" cy="594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65776" y="3758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</a:rPr>
              <a:t>Delivery (Pitch)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65776" y="3977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Clear problem → gap → solution → demo → impact arc with specific user scenarios.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37760" y="4389120"/>
            <a:ext cx="3858768" cy="594360"/>
          </a:xfrm>
          <a:prstGeom prst="rect">
            <a:avLst/>
          </a:prstGeom>
          <a:solidFill>
            <a:srgbClr val="0F1E33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937760" y="4389120"/>
            <a:ext cx="54864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65776" y="4425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</a:rPr>
              <a:t>Impact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65776" y="46451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0F5"/>
                </a:solidFill>
              </a:rPr>
              <a:t>Addresses ASD, Alexithymia, visual impairment. Workforce, education, daily life. Real academic research base.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00E5A0">
              <a:alpha val="8000"/>
            </a:srgbClr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3291840"/>
            <a:ext cx="2743200" cy="2743200"/>
          </a:xfrm>
          <a:prstGeom prst="ellipse">
            <a:avLst/>
          </a:prstGeom>
          <a:solidFill>
            <a:srgbClr val="00C2D4">
              <a:alpha val="8000"/>
            </a:srgbClr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E1A"/>
                </a:solidFill>
              </a:rPr>
              <a:t>VISION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"Social subtitles</a:t>
            </a:r>
            <a:endParaRPr lang="en-US" sz="4800" dirty="0"/>
          </a:p>
          <a:p>
            <a:pPr marL="0" indent="0">
              <a:buNone/>
            </a:pPr>
            <a:r>
              <a:rPr lang="en-US" sz="48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the real world."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548640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F0F5"/>
                </a:solidFill>
              </a:rPr>
              <a:t>Closed captions opened the world of audio to the deaf community. InSight opens the hidden language of emotion to those who cannot intuitively read it. Not a crutch — an equalizer.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584448"/>
            <a:ext cx="2514600" cy="1325880"/>
          </a:xfrm>
          <a:prstGeom prst="rect">
            <a:avLst/>
          </a:prstGeom>
          <a:solidFill>
            <a:srgbClr val="0F1E33"/>
          </a:solidFill>
          <a:ln w="19050">
            <a:solidFill>
              <a:srgbClr val="00E5A0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584448"/>
            <a:ext cx="25146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6941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Workforce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" y="449884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F0F5"/>
                </a:solidFill>
              </a:rPr>
              <a:t>Reduced social friction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CF0F5"/>
                </a:solidFill>
              </a:rPr>
              <a:t>in professional settings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3584448"/>
            <a:ext cx="2514600" cy="1325880"/>
          </a:xfrm>
          <a:prstGeom prst="rect">
            <a:avLst/>
          </a:prstGeom>
          <a:solidFill>
            <a:srgbClr val="0F1E33"/>
          </a:solidFill>
          <a:ln w="19050">
            <a:solidFill>
              <a:srgbClr val="00E5A0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3584448"/>
            <a:ext cx="25146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36941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0" y="41605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10128" y="449884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F0F5"/>
                </a:solidFill>
              </a:rPr>
              <a:t>Peer relationships 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CF0F5"/>
                </a:solidFill>
              </a:rPr>
              <a:t>classroom confidence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584448"/>
            <a:ext cx="2514600" cy="1325880"/>
          </a:xfrm>
          <a:prstGeom prst="rect">
            <a:avLst/>
          </a:prstGeom>
          <a:solidFill>
            <a:srgbClr val="0F1E33"/>
          </a:solidFill>
          <a:ln w="19050">
            <a:solidFill>
              <a:srgbClr val="00E5A0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3584448"/>
            <a:ext cx="25146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0" y="36941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43600" y="41605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Life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53328" y="449884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F0F5"/>
                </a:solidFill>
              </a:rPr>
              <a:t>Autonomy in every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CF0F5"/>
                </a:solidFill>
              </a:rPr>
              <a:t>conversation, every day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00C2D4">
              <a:alpha val="7000"/>
            </a:srgbClr>
          </a:solidFill>
          <a:ln w="1905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007A8A">
              <a:alpha val="12000"/>
            </a:srgbClr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-73152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8686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</a:t>
            </a:r>
            <a:endParaRPr lang="en-US" sz="7600" dirty="0"/>
          </a:p>
        </p:txBody>
      </p:sp>
      <p:sp>
        <p:nvSpPr>
          <p:cNvPr id="8" name="Text 5"/>
          <p:cNvSpPr/>
          <p:nvPr/>
        </p:nvSpPr>
        <p:spPr>
          <a:xfrm>
            <a:off x="1371600" y="22128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E7F0"/>
                </a:solidFill>
              </a:rPr>
              <a:t>Real-Time Emotional Intelligence for Snap Spectacles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2798064"/>
            <a:ext cx="4572000" cy="36576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71600" y="29077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A3B8"/>
                </a:solidFill>
              </a:rPr>
              <a:t>👻 Snap Spectacles   ·   🧠 CBDT Brain Health   ·   🤝 Society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342900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0E1A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44439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E1A"/>
                </a:solidFill>
              </a:rPr>
              <a:t>Snap Spectacles  ·  Hume AI  ·  Convex  ·  GPT-4o  ·  TypeScript  ·  Lens Studio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1218</Words>
  <Application>Microsoft Macintosh PowerPoint</Application>
  <PresentationFormat>On-screen Show (16:9)</PresentationFormat>
  <Paragraphs>211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 — CareXR Hackathon 2026</dc:title>
  <dc:subject>PptxGenJS Presentation</dc:subject>
  <dc:creator>PptxGenJS</dc:creator>
  <cp:lastModifiedBy>Mankush Gandhi</cp:lastModifiedBy>
  <cp:revision>4</cp:revision>
  <dcterms:created xsi:type="dcterms:W3CDTF">2026-03-22T06:48:03Z</dcterms:created>
  <dcterms:modified xsi:type="dcterms:W3CDTF">2026-03-23T01:13:07Z</dcterms:modified>
</cp:coreProperties>
</file>